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Poppins" panose="00000500000000000000" pitchFamily="2" charset="0"/>
      <p:regular r:id="rId20"/>
      <p:bold r:id="rId21"/>
      <p:italic r:id="rId22"/>
      <p:boldItalic r:id="rId23"/>
    </p:embeddedFont>
    <p:embeddedFont>
      <p:font typeface="Poppins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anup@sedultygroups.com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anup@sedultygroups.com" TargetMode="Externa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13768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0076CE"/>
                </a:solidFill>
                <a:latin typeface="Lato"/>
                <a:ea typeface="Lato"/>
                <a:cs typeface="Lato"/>
                <a:sym typeface="Lato"/>
              </a:rPr>
              <a:t>UNIT 1: INTRODUCTION TO PYTHON</a:t>
            </a:r>
            <a:endParaRPr dirty="0"/>
          </a:p>
        </p:txBody>
      </p:sp>
      <p:sp>
        <p:nvSpPr>
          <p:cNvPr id="86" name="Google Shape;86;p13"/>
          <p:cNvSpPr/>
          <p:nvPr/>
        </p:nvSpPr>
        <p:spPr>
          <a:xfrm>
            <a:off x="5619750" y="4078485"/>
            <a:ext cx="952500" cy="762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197764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76CE"/>
                </a:solidFill>
                <a:latin typeface="Lato"/>
                <a:ea typeface="Lato"/>
                <a:cs typeface="Lato"/>
                <a:sym typeface="Lato"/>
              </a:rPr>
              <a:t>Exploring Software Systems and Programming Paradigms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295275" y="2284214"/>
            <a:ext cx="11601450" cy="1508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Python Fundamentals &amp; Architecture</a:t>
            </a:r>
            <a:endParaRPr dirty="0"/>
          </a:p>
        </p:txBody>
      </p:sp>
      <p:sp>
        <p:nvSpPr>
          <p:cNvPr id="3" name="Google Shape;270;p24">
            <a:extLst>
              <a:ext uri="{FF2B5EF4-FFF2-40B4-BE49-F238E27FC236}">
                <a16:creationId xmlns:a16="http://schemas.microsoft.com/office/drawing/2014/main" id="{1C47D91F-D929-717C-60E1-B8F39F0C16E7}"/>
              </a:ext>
            </a:extLst>
          </p:cNvPr>
          <p:cNvSpPr txBox="1"/>
          <p:nvPr/>
        </p:nvSpPr>
        <p:spPr>
          <a:xfrm>
            <a:off x="2333625" y="5021176"/>
            <a:ext cx="75247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Presented By: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i="0" u="none" strike="noStrike" cap="none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Dr. Anup Girdhar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CEO-Sedulity Solutions &amp; Technologies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Email: </a:t>
            </a:r>
            <a:r>
              <a:rPr lang="en-US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anup@sedultygroups.com</a:t>
            </a:r>
            <a:endParaRPr lang="en-US" sz="1800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319337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Programming is the strategic design of instructions that empower computers to solve complex problems.</a:t>
            </a:r>
            <a:endParaRPr/>
          </a:p>
        </p:txBody>
      </p:sp>
      <p:pic>
        <p:nvPicPr>
          <p:cNvPr id="95" name="Google Shape;95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38362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4875" y="3184028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Bridge between human logic and hardware.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3616374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Foundation for AI, Web, and Cyber Security.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04872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Python: The world’s leading language for readability.</a:t>
            </a:r>
            <a:endParaRPr/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2364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3668762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410110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1.1 Introduction to Programming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619750" y="3487191"/>
            <a:ext cx="952500" cy="762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286000" y="3849141"/>
            <a:ext cx="7620000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Understanding the structural blueprints that define how applications, servers, and databases communicate and scale.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295275" y="2429916"/>
            <a:ext cx="11601450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Software Development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131962"/>
            <a:ext cx="5286375" cy="3146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130004"/>
            <a:ext cx="5286375" cy="26342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48562" y="2512962"/>
            <a:ext cx="28575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58112" y="2846337"/>
            <a:ext cx="24384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58112" y="3227337"/>
            <a:ext cx="243840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58112" y="3608337"/>
            <a:ext cx="24384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2312937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simplest architecture where all components—</a:t>
            </a: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User Interface, Business Logic, and Database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—reside on a single system.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415336" y="4551312"/>
            <a:ext cx="1781175" cy="25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Standalone System</a:t>
            </a:r>
            <a:endParaRPr dirty="0"/>
          </a:p>
        </p:txBody>
      </p:sp>
      <p:sp>
        <p:nvSpPr>
          <p:cNvPr id="125" name="Google Shape;125;p16"/>
          <p:cNvSpPr txBox="1"/>
          <p:nvPr/>
        </p:nvSpPr>
        <p:spPr>
          <a:xfrm>
            <a:off x="1238250" y="3882479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Low complexity and zero network latency.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238250" y="4314825"/>
            <a:ext cx="43338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Ideal for standalone desktop applications (e.g., MS Word).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1238250" y="5036641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Limitation: Not scalable for multi-user environments.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Single Tier Architecture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 txBox="1"/>
          <p:nvPr/>
        </p:nvSpPr>
        <p:spPr>
          <a:xfrm>
            <a:off x="904875" y="3415754"/>
            <a:ext cx="49006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Key Attributes: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747962"/>
            <a:ext cx="5286375" cy="240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0062" y="3128962"/>
            <a:ext cx="1714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0062" y="4252912"/>
            <a:ext cx="171450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2928937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Commonly known as </a:t>
            </a: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Client-Server Architecture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 Communication occurs directly between the client and the server.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571500" y="4601170"/>
            <a:ext cx="52863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Common in early database applications and internal tools.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04875" y="3688853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Client Tier: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Handles UI and some logic.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904875" y="4121199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Server Tier: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Manages data and heavy logic.</a:t>
            </a:r>
            <a:endParaRPr/>
          </a:p>
        </p:txBody>
      </p:sp>
      <p:pic>
        <p:nvPicPr>
          <p:cNvPr id="143" name="Google Shape;14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05875" y="3833812"/>
            <a:ext cx="1428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741241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173587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Two Tier Architecture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338387"/>
            <a:ext cx="5286375" cy="321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0062" y="2719387"/>
            <a:ext cx="1714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0062" y="3690937"/>
            <a:ext cx="1714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0062" y="4662487"/>
            <a:ext cx="17145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288803"/>
            <a:ext cx="52863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3850778"/>
            <a:ext cx="52863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71500" y="4412753"/>
            <a:ext cx="528637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571500" y="2519362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The standard for modern web applications. It introduces a dedicated </a:t>
            </a: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Application Layer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to decouple logic from data.</a:t>
            </a:r>
            <a:endParaRPr/>
          </a:p>
        </p:txBody>
      </p:sp>
      <p:pic>
        <p:nvPicPr>
          <p:cNvPr id="161" name="Google Shape;161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24925" y="3376612"/>
            <a:ext cx="1047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924925" y="4348162"/>
            <a:ext cx="10477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Three Tier Architecture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2462212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Used for massive enterprise systems. It breaks the application into numerous sub-tiers for </a:t>
            </a:r>
            <a:r>
              <a:rPr lang="en-US" sz="1425" b="1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Security, Caching, and Scalability</a:t>
            </a:r>
            <a:r>
              <a:rPr lang="en-US" sz="1425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72" name="Google Shape;172;p19"/>
          <p:cNvSpPr txBox="1"/>
          <p:nvPr/>
        </p:nvSpPr>
        <p:spPr>
          <a:xfrm>
            <a:off x="904875" y="3222128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Includes Firewalls and Proxies.</a:t>
            </a:r>
            <a:endParaRPr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904875" y="3654474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Caching layers (Redis) for speed.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904875" y="408682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Microservices approach.</a:t>
            </a:r>
            <a:endParaRPr/>
          </a:p>
        </p:txBody>
      </p:sp>
      <p:pic>
        <p:nvPicPr>
          <p:cNvPr id="175" name="Google Shape;17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74516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06862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139207"/>
            <a:ext cx="1905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Multi-Tier (N-Tier) Architecture</a:t>
            </a:r>
            <a:endParaRPr dirty="0"/>
          </a:p>
        </p:txBody>
      </p:sp>
      <p:sp>
        <p:nvSpPr>
          <p:cNvPr id="179" name="Google Shape;179;p19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6" name="Picture 2" descr="Web Application Architecture - Working Models &amp; Types - NetMaxims Blog –  Web and Mobile Development Services and Solutions">
            <a:extLst>
              <a:ext uri="{FF2B5EF4-FFF2-40B4-BE49-F238E27FC236}">
                <a16:creationId xmlns:a16="http://schemas.microsoft.com/office/drawing/2014/main" id="{DA5135D5-B0B6-DAE0-F53D-DBC033420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08492"/>
            <a:ext cx="5665676" cy="260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51645"/>
            <a:ext cx="4953000" cy="386342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571500" y="179070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Created by </a:t>
            </a: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Guido van Rossum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in 1989. Released 1991.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866775" y="2927895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Python 2.0 (2000):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Memory management features.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866775" y="3398341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Python 3.0 (2008):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Modern syntax overhaul.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866775" y="3868787"/>
            <a:ext cx="436245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Python 3.12 (Latest):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Performance optimizations.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571500"/>
            <a:ext cx="52006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Evolution of Python</a:t>
            </a:r>
            <a:endParaRPr dirty="0"/>
          </a:p>
        </p:txBody>
      </p:sp>
      <p:sp>
        <p:nvSpPr>
          <p:cNvPr id="192" name="Google Shape;192;p20"/>
          <p:cNvSpPr/>
          <p:nvPr/>
        </p:nvSpPr>
        <p:spPr>
          <a:xfrm>
            <a:off x="571500" y="1209675"/>
            <a:ext cx="4953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0" name="Picture 2" descr="Evolution and History of Python (1989–2026) – Complete Guide">
            <a:extLst>
              <a:ext uri="{FF2B5EF4-FFF2-40B4-BE49-F238E27FC236}">
                <a16:creationId xmlns:a16="http://schemas.microsoft.com/office/drawing/2014/main" id="{C463DC3F-7FF3-4349-54F7-02D3501DD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5298" y="1447032"/>
            <a:ext cx="5945904" cy="396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47069"/>
            <a:ext cx="3524250" cy="240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747069"/>
            <a:ext cx="3524250" cy="240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96250" y="2747069"/>
            <a:ext cx="3524250" cy="2401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04875" y="303281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904875" y="3813869"/>
            <a:ext cx="290512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English-like syntax allows developers to focus on logic rather than boilerplate code.</a:t>
            </a:r>
            <a:endParaRPr/>
          </a:p>
        </p:txBody>
      </p:sp>
      <p:pic>
        <p:nvPicPr>
          <p:cNvPr id="203" name="Google Shape;203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67250" y="303281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4667250" y="3813869"/>
            <a:ext cx="290512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Runs on Windows, macOS, and Linux without modification. Truly platform-independent.</a:t>
            </a:r>
            <a:endParaRPr/>
          </a:p>
        </p:txBody>
      </p:sp>
      <p:pic>
        <p:nvPicPr>
          <p:cNvPr id="205" name="Google Shape;20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29625" y="3032819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8429625" y="3813869"/>
            <a:ext cx="2905125" cy="868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From NumPy to TensorFlow, it provides pre-built tools for every scientific domain.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Python is the Preferred Choice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904875" y="3318569"/>
            <a:ext cx="305038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Simplicity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4667250" y="3318569"/>
            <a:ext cx="305038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Portable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8429625" y="3318569"/>
            <a:ext cx="305038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Libraries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7621"/>
            <a:ext cx="5286375" cy="2344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97621"/>
            <a:ext cx="5286375" cy="2344787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5028158"/>
            <a:ext cx="11049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0076CE"/>
                </a:solidFill>
                <a:latin typeface="Lato"/>
                <a:ea typeface="Lato"/>
                <a:cs typeface="Lato"/>
                <a:sym typeface="Lato"/>
              </a:rPr>
              <a:t>Python uses both: Source → Bytecode → PVM (Output)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238250" y="3150096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Translates code line-by-line.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1238250" y="3582441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Immediate execution and easier debugging.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1238250" y="4014787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Slower runtime performance.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7000875" y="3150096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Translates whole program at once.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7000875" y="3582441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Creates an executable file (.exe).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000875" y="4014787"/>
            <a:ext cx="4333875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Faster execution after compilation.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1.7 Interpreter vs Compiler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 txBox="1"/>
          <p:nvPr/>
        </p:nvSpPr>
        <p:spPr>
          <a:xfrm>
            <a:off x="904875" y="2683371"/>
            <a:ext cx="49006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Interpreter (Python)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6667500" y="2683371"/>
            <a:ext cx="49006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Compiler (C++/Java)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571500" y="2319337"/>
            <a:ext cx="5286375" cy="57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Modern development requires an </a:t>
            </a: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IDE (Integrated Development Environment)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for efficiency.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904875" y="3088778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VS Code: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Lightweight, massive extensions.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04875" y="3521124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PyCharm: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Professional enterprise features.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04875" y="3953470"/>
            <a:ext cx="4953000" cy="289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Jupyter:</a:t>
            </a:r>
            <a:r>
              <a:rPr lang="en-US" sz="142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 Interactive data visualization.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 dirty="0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Setting Up the Workspace</a:t>
            </a:r>
            <a:endParaRPr dirty="0"/>
          </a:p>
        </p:txBody>
      </p:sp>
      <p:sp>
        <p:nvSpPr>
          <p:cNvPr id="241" name="Google Shape;241;p23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98" name="Picture 2" descr="Python IDE for Windows ">
            <a:extLst>
              <a:ext uri="{FF2B5EF4-FFF2-40B4-BE49-F238E27FC236}">
                <a16:creationId xmlns:a16="http://schemas.microsoft.com/office/drawing/2014/main" id="{1969ED73-9DF2-4244-AA0F-88D344B366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0" r="12065" b="7866"/>
          <a:stretch>
            <a:fillRect/>
          </a:stretch>
        </p:blipFill>
        <p:spPr bwMode="auto">
          <a:xfrm>
            <a:off x="5966031" y="1921091"/>
            <a:ext cx="5918950" cy="3977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09712"/>
            <a:ext cx="11049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/>
          <p:nvPr/>
        </p:nvSpPr>
        <p:spPr>
          <a:xfrm>
            <a:off x="4667250" y="3600449"/>
            <a:ext cx="2857500" cy="7620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4"/>
          <p:cNvSpPr txBox="1"/>
          <p:nvPr/>
        </p:nvSpPr>
        <p:spPr>
          <a:xfrm>
            <a:off x="295275" y="2462212"/>
            <a:ext cx="116014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41E42"/>
                </a:solidFill>
                <a:latin typeface="Poppins"/>
                <a:ea typeface="Poppins"/>
                <a:cs typeface="Poppins"/>
                <a:sym typeface="Poppins"/>
              </a:rPr>
              <a:t>Questions?</a:t>
            </a:r>
            <a:endParaRPr/>
          </a:p>
        </p:txBody>
      </p:sp>
      <p:sp>
        <p:nvSpPr>
          <p:cNvPr id="2" name="Google Shape;270;p24">
            <a:extLst>
              <a:ext uri="{FF2B5EF4-FFF2-40B4-BE49-F238E27FC236}">
                <a16:creationId xmlns:a16="http://schemas.microsoft.com/office/drawing/2014/main" id="{1243E6AA-C39B-8360-F57D-2F4619FE7559}"/>
              </a:ext>
            </a:extLst>
          </p:cNvPr>
          <p:cNvSpPr txBox="1"/>
          <p:nvPr/>
        </p:nvSpPr>
        <p:spPr>
          <a:xfrm>
            <a:off x="2333625" y="4134156"/>
            <a:ext cx="7524750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Presented By: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1" i="0" u="none" strike="noStrike" cap="none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Dr. Anup Girdhar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CEO-Sedulity Solutions &amp; Technologies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Email: </a:t>
            </a:r>
            <a:r>
              <a:rPr lang="en-US" sz="1800" dirty="0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anup@sedultygroups.com</a:t>
            </a:r>
            <a:endParaRPr lang="en-US" sz="1800" dirty="0">
              <a:solidFill>
                <a:srgbClr val="64748B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/>
          <p:nvPr/>
        </p:nvSpPr>
        <p:spPr>
          <a:xfrm>
            <a:off x="571500" y="2284214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571500" y="326707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405184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257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32575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40423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40423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4827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482709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6" name="Google Shape;26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3275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1666875" y="2427089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https://media.istockphoto.com/id/2166701872/vector/big-data-computer-and-server-park.jpg?s=612x612&amp;w=0&amp;k=20&amp;c=tqLGIIlGPU1Ls6WOwxHcOPKRi5svZVcKR44YTqBd6R0=</a:t>
            </a:r>
            <a:endParaRPr/>
          </a:p>
        </p:txBody>
      </p:sp>
      <p:sp>
        <p:nvSpPr>
          <p:cNvPr id="268" name="Google Shape;268;p25"/>
          <p:cNvSpPr txBox="1"/>
          <p:nvPr/>
        </p:nvSpPr>
        <p:spPr>
          <a:xfrm>
            <a:off x="1666875" y="2870894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www.istockphoto.com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1666875" y="3409950"/>
            <a:ext cx="9953625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975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https://share.google/TChYoMneAt4X5oxBn</a:t>
            </a:r>
            <a:endParaRPr dirty="0"/>
          </a:p>
        </p:txBody>
      </p:sp>
      <p:sp>
        <p:nvSpPr>
          <p:cNvPr id="271" name="Google Shape;271;p25"/>
          <p:cNvSpPr txBox="1"/>
          <p:nvPr/>
        </p:nvSpPr>
        <p:spPr>
          <a:xfrm>
            <a:off x="1666875" y="3655665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netmaxims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.com</a:t>
            </a:r>
            <a:endParaRPr dirty="0"/>
          </a:p>
        </p:txBody>
      </p:sp>
      <p:sp>
        <p:nvSpPr>
          <p:cNvPr id="273" name="Google Shape;273;p25"/>
          <p:cNvSpPr txBox="1"/>
          <p:nvPr/>
        </p:nvSpPr>
        <p:spPr>
          <a:xfrm>
            <a:off x="1666875" y="4194720"/>
            <a:ext cx="9953625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975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https://share.google/Q6Ck5hG8zwWqSTt9B</a:t>
            </a:r>
            <a:endParaRPr dirty="0"/>
          </a:p>
        </p:txBody>
      </p:sp>
      <p:sp>
        <p:nvSpPr>
          <p:cNvPr id="274" name="Google Shape;274;p25"/>
          <p:cNvSpPr txBox="1"/>
          <p:nvPr/>
        </p:nvSpPr>
        <p:spPr>
          <a:xfrm>
            <a:off x="1666875" y="4440435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pycoderhub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.com</a:t>
            </a:r>
            <a:endParaRPr dirty="0"/>
          </a:p>
        </p:txBody>
      </p:sp>
      <p:sp>
        <p:nvSpPr>
          <p:cNvPr id="276" name="Google Shape;276;p25"/>
          <p:cNvSpPr txBox="1"/>
          <p:nvPr/>
        </p:nvSpPr>
        <p:spPr>
          <a:xfrm>
            <a:off x="1666875" y="4979491"/>
            <a:ext cx="9953625" cy="240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975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https://www.educba.com/python-ide-for-windows/</a:t>
            </a:r>
            <a:endParaRPr dirty="0"/>
          </a:p>
        </p:txBody>
      </p:sp>
      <p:sp>
        <p:nvSpPr>
          <p:cNvPr id="277" name="Google Shape;277;p25"/>
          <p:cNvSpPr txBox="1"/>
          <p:nvPr/>
        </p:nvSpPr>
        <p:spPr>
          <a:xfrm>
            <a:off x="1666875" y="5225206"/>
            <a:ext cx="9953625" cy="295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 dirty="0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educba.com</a:t>
            </a:r>
            <a:endParaRPr dirty="0"/>
          </a:p>
        </p:txBody>
      </p:sp>
      <p:sp>
        <p:nvSpPr>
          <p:cNvPr id="278" name="Google Shape;278;p25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041E4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279" name="Google Shape;279;p25"/>
          <p:cNvSpPr/>
          <p:nvPr/>
        </p:nvSpPr>
        <p:spPr>
          <a:xfrm>
            <a:off x="571500" y="1209675"/>
            <a:ext cx="11049000" cy="19050"/>
          </a:xfrm>
          <a:prstGeom prst="rect">
            <a:avLst/>
          </a:prstGeom>
          <a:solidFill>
            <a:srgbClr val="00B5E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E8C081-1536-763D-66E9-7436E87203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499" y="3458132"/>
            <a:ext cx="815901" cy="375894"/>
          </a:xfrm>
          <a:prstGeom prst="rect">
            <a:avLst/>
          </a:prstGeom>
        </p:spPr>
      </p:pic>
      <p:pic>
        <p:nvPicPr>
          <p:cNvPr id="3074" name="Picture 2" descr="Evolution and History of Python (1989–2026) – Complete Guide">
            <a:extLst>
              <a:ext uri="{FF2B5EF4-FFF2-40B4-BE49-F238E27FC236}">
                <a16:creationId xmlns:a16="http://schemas.microsoft.com/office/drawing/2014/main" id="{EECD098B-996F-E47F-9449-4CA9E6590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499" y="4157839"/>
            <a:ext cx="857251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Python IDE for Windows ">
            <a:extLst>
              <a:ext uri="{FF2B5EF4-FFF2-40B4-BE49-F238E27FC236}">
                <a16:creationId xmlns:a16="http://schemas.microsoft.com/office/drawing/2014/main" id="{34B44167-3391-B190-9AF0-69951BFD54E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20" r="12065" b="7866"/>
          <a:stretch>
            <a:fillRect/>
          </a:stretch>
        </p:blipFill>
        <p:spPr bwMode="auto">
          <a:xfrm>
            <a:off x="571499" y="4979491"/>
            <a:ext cx="872852" cy="586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ython Fundamentals &amp; Software Architecture.potx" id="{492852F4-EB9D-4854-A6B7-0282311A635C}" vid="{75909A96-7BD7-4F78-B218-09C3577D92E4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</TotalTime>
  <Words>554</Words>
  <Application>Microsoft Office PowerPoint</Application>
  <PresentationFormat>Widescreen</PresentationFormat>
  <Paragraphs>76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Poppins</vt:lpstr>
      <vt:lpstr>Poppins SemiBold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abc</dc:creator>
  <cp:lastModifiedBy>abc</cp:lastModifiedBy>
  <cp:revision>9</cp:revision>
  <dcterms:modified xsi:type="dcterms:W3CDTF">2026-05-31T16:54:45Z</dcterms:modified>
</cp:coreProperties>
</file>